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Proxima Nova"/>
      <p:regular r:id="rId21"/>
      <p:bold r:id="rId22"/>
      <p:italic r:id="rId23"/>
      <p:boldItalic r:id="rId24"/>
    </p:embeddedFont>
    <p:embeddedFont>
      <p:font typeface="Poppins"/>
      <p:regular r:id="rId25"/>
      <p:bold r:id="rId26"/>
      <p:italic r:id="rId27"/>
      <p:boldItalic r:id="rId28"/>
    </p:embeddedFont>
    <p:embeddedFont>
      <p:font typeface="Poppins Medium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ProximaNova-bold.fntdata"/><Relationship Id="rId21" Type="http://schemas.openxmlformats.org/officeDocument/2006/relationships/font" Target="fonts/ProximaNova-regular.fntdata"/><Relationship Id="rId24" Type="http://schemas.openxmlformats.org/officeDocument/2006/relationships/font" Target="fonts/ProximaNova-boldItalic.fntdata"/><Relationship Id="rId23" Type="http://schemas.openxmlformats.org/officeDocument/2006/relationships/font" Target="fonts/ProximaNova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-bold.fntdata"/><Relationship Id="rId25" Type="http://schemas.openxmlformats.org/officeDocument/2006/relationships/font" Target="fonts/Poppins-regular.fntdata"/><Relationship Id="rId28" Type="http://schemas.openxmlformats.org/officeDocument/2006/relationships/font" Target="fonts/Poppins-boldItalic.fntdata"/><Relationship Id="rId27" Type="http://schemas.openxmlformats.org/officeDocument/2006/relationships/font" Target="fonts/Poppi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Medium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Medium-italic.fntdata"/><Relationship Id="rId30" Type="http://schemas.openxmlformats.org/officeDocument/2006/relationships/font" Target="fonts/PoppinsMedium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PoppinsMedium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2b7494ca5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22b7494ca5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2b7494ca5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2b7494ca5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2b7494ca56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2b7494ca5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2b7494ca56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2b7494ca5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2b7494ca56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2b7494ca56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2b7494ca56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2b7494ca5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2b7494ca56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2b7494ca56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2b7494ca56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2b7494ca56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2b7494ca56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2b7494ca56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89cf40a79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89cf40a79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89cf40a79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89cf40a79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9cf40a79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89cf40a79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89cf40a79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89cf40a79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89cf40a798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89cf40a798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c190bc4ce7_0_1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2c190bc4ce7_0_1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>
  <p:cSld name="TITLE_AND_BODY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 title="Frame 1397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4"/>
          <p:cNvSpPr txBox="1"/>
          <p:nvPr/>
        </p:nvSpPr>
        <p:spPr>
          <a:xfrm>
            <a:off x="294675" y="328609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20272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Team Name :</a:t>
            </a:r>
            <a:endParaRPr sz="1700">
              <a:solidFill>
                <a:srgbClr val="20272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57" name="Google Shape;57;p14"/>
          <p:cNvSpPr txBox="1"/>
          <p:nvPr/>
        </p:nvSpPr>
        <p:spPr>
          <a:xfrm>
            <a:off x="328730" y="4235935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20272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Problem Statement :</a:t>
            </a:r>
            <a:endParaRPr sz="1700">
              <a:solidFill>
                <a:srgbClr val="20272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58" name="Google Shape;58;p14"/>
          <p:cNvSpPr txBox="1"/>
          <p:nvPr/>
        </p:nvSpPr>
        <p:spPr>
          <a:xfrm>
            <a:off x="310163" y="376085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20272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Team Leader Name :</a:t>
            </a:r>
            <a:endParaRPr sz="1700">
              <a:solidFill>
                <a:srgbClr val="20272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5" title="Frame 13969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5"/>
          <p:cNvSpPr txBox="1"/>
          <p:nvPr/>
        </p:nvSpPr>
        <p:spPr>
          <a:xfrm>
            <a:off x="311700" y="863550"/>
            <a:ext cx="29094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6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Brief about the Prototype:</a:t>
            </a:r>
            <a:endParaRPr sz="16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 title="Frame 13969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6"/>
          <p:cNvSpPr txBox="1"/>
          <p:nvPr/>
        </p:nvSpPr>
        <p:spPr>
          <a:xfrm>
            <a:off x="311700" y="954000"/>
            <a:ext cx="8520600" cy="40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 </a:t>
            </a:r>
            <a:r>
              <a:rPr lang="en-GB" sz="16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Opportunity should be able to explain the following:</a:t>
            </a:r>
            <a:endParaRPr sz="16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DF064B"/>
              </a:buClr>
              <a:buSzPts val="1600"/>
              <a:buFont typeface="Poppins"/>
              <a:buChar char="●"/>
            </a:pPr>
            <a:r>
              <a:rPr lang="en-GB" sz="1600">
                <a:solidFill>
                  <a:srgbClr val="616161"/>
                </a:solidFill>
                <a:latin typeface="Poppins"/>
                <a:ea typeface="Poppins"/>
                <a:cs typeface="Poppins"/>
                <a:sym typeface="Poppins"/>
              </a:rPr>
              <a:t>How different is it from any of the other existing ideas?</a:t>
            </a:r>
            <a:endParaRPr sz="1600">
              <a:solidFill>
                <a:srgbClr val="61616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F064B"/>
              </a:buClr>
              <a:buSzPts val="1600"/>
              <a:buFont typeface="Poppins"/>
              <a:buChar char="●"/>
            </a:pPr>
            <a:r>
              <a:rPr lang="en-GB" sz="1600">
                <a:solidFill>
                  <a:srgbClr val="616161"/>
                </a:solidFill>
                <a:latin typeface="Poppins"/>
                <a:ea typeface="Poppins"/>
                <a:cs typeface="Poppins"/>
                <a:sym typeface="Poppins"/>
              </a:rPr>
              <a:t>How will it be able to solve the problem?</a:t>
            </a:r>
            <a:endParaRPr sz="1600">
              <a:solidFill>
                <a:srgbClr val="61616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F064B"/>
              </a:buClr>
              <a:buSzPts val="1600"/>
              <a:buFont typeface="Poppins"/>
              <a:buChar char="●"/>
            </a:pPr>
            <a:r>
              <a:rPr lang="en-GB" sz="1600">
                <a:solidFill>
                  <a:srgbClr val="616161"/>
                </a:solidFill>
                <a:latin typeface="Poppins"/>
                <a:ea typeface="Poppins"/>
                <a:cs typeface="Poppins"/>
                <a:sym typeface="Poppins"/>
              </a:rPr>
              <a:t>USP of the proposed solution</a:t>
            </a:r>
            <a:endParaRPr sz="1600">
              <a:solidFill>
                <a:srgbClr val="61616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7" title="Frame 13969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7"/>
          <p:cNvSpPr txBox="1"/>
          <p:nvPr/>
        </p:nvSpPr>
        <p:spPr>
          <a:xfrm>
            <a:off x="311700" y="884950"/>
            <a:ext cx="7486500" cy="3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List of features offered by the solution</a:t>
            </a:r>
            <a:endParaRPr sz="18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600">
                <a:solidFill>
                  <a:srgbClr val="616161"/>
                </a:solidFill>
                <a:latin typeface="Poppins"/>
                <a:ea typeface="Poppins"/>
                <a:cs typeface="Poppins"/>
                <a:sym typeface="Poppins"/>
              </a:rPr>
              <a:t>It is always better to add a few visual representations (drawings/sketches/illustrations etc.) to your presentation, it adds to the power through which it reaches the audience.</a:t>
            </a:r>
            <a:endParaRPr sz="1600">
              <a:solidFill>
                <a:srgbClr val="61616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8" title="Frame 13969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8"/>
          <p:cNvSpPr txBox="1"/>
          <p:nvPr/>
        </p:nvSpPr>
        <p:spPr>
          <a:xfrm>
            <a:off x="311700" y="840550"/>
            <a:ext cx="8520600" cy="40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Process flow diagram or Use-case diagram</a:t>
            </a:r>
            <a:endParaRPr sz="16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616161"/>
                </a:solidFill>
                <a:latin typeface="Poppins"/>
                <a:ea typeface="Poppins"/>
                <a:cs typeface="Poppins"/>
                <a:sym typeface="Poppins"/>
              </a:rPr>
              <a:t>Add a flow diagram or a use case diagram or an architecture diagram.</a:t>
            </a:r>
            <a:endParaRPr b="1" sz="1600">
              <a:solidFill>
                <a:srgbClr val="61616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600">
              <a:solidFill>
                <a:srgbClr val="61616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9" title="Frame 13969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9"/>
          <p:cNvSpPr txBox="1"/>
          <p:nvPr/>
        </p:nvSpPr>
        <p:spPr>
          <a:xfrm>
            <a:off x="311700" y="776500"/>
            <a:ext cx="8520600" cy="40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Wireframes/Mock diagrams of the proposed solution</a:t>
            </a:r>
            <a:endParaRPr sz="16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0" title="Frame 13969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0"/>
          <p:cNvSpPr txBox="1"/>
          <p:nvPr/>
        </p:nvSpPr>
        <p:spPr>
          <a:xfrm>
            <a:off x="311700" y="746400"/>
            <a:ext cx="8520600" cy="40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Architecture diagram of the proposed solution</a:t>
            </a:r>
            <a:endParaRPr sz="16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1" title="Frame 13969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1"/>
          <p:cNvSpPr txBox="1"/>
          <p:nvPr/>
        </p:nvSpPr>
        <p:spPr>
          <a:xfrm>
            <a:off x="311700" y="716275"/>
            <a:ext cx="8520600" cy="40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616161"/>
              </a:buClr>
              <a:buSzPts val="1800"/>
              <a:buFont typeface="Proxima Nova"/>
              <a:buNone/>
            </a:pPr>
            <a:r>
              <a:rPr lang="en-GB" sz="16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Technologies to be used in the solution:</a:t>
            </a:r>
            <a:endParaRPr i="0" sz="1600" u="none" cap="none" strike="noStrike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2" title="Frame 13969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2"/>
          <p:cNvSpPr txBox="1"/>
          <p:nvPr/>
        </p:nvSpPr>
        <p:spPr>
          <a:xfrm>
            <a:off x="311700" y="716275"/>
            <a:ext cx="8520600" cy="40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616161"/>
              </a:buClr>
              <a:buSzPts val="1800"/>
              <a:buFont typeface="Proxima Nova"/>
              <a:buNone/>
            </a:pPr>
            <a:r>
              <a:rPr lang="en-GB" sz="16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Estimated implementation cost (optional)</a:t>
            </a:r>
            <a:r>
              <a:rPr lang="en-GB" sz="16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:</a:t>
            </a:r>
            <a:endParaRPr i="0" sz="1600" u="none" cap="none" strike="noStrike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3" title="Frame 13969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3"/>
          <p:cNvSpPr txBox="1"/>
          <p:nvPr/>
        </p:nvSpPr>
        <p:spPr>
          <a:xfrm>
            <a:off x="311700" y="826150"/>
            <a:ext cx="8520600" cy="40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616161"/>
              </a:buClr>
              <a:buSzPts val="1800"/>
              <a:buFont typeface="Proxima Nova"/>
              <a:buNone/>
            </a:pPr>
            <a:r>
              <a:rPr lang="en-GB" sz="16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Snapshots of the prototype</a:t>
            </a:r>
            <a:endParaRPr sz="16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4" title="Frame 13969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4"/>
          <p:cNvSpPr txBox="1"/>
          <p:nvPr/>
        </p:nvSpPr>
        <p:spPr>
          <a:xfrm>
            <a:off x="311700" y="826150"/>
            <a:ext cx="8520600" cy="40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616161"/>
              </a:buClr>
              <a:buSzPts val="1800"/>
              <a:buFont typeface="Proxima Nova"/>
              <a:buNone/>
            </a:pPr>
            <a:r>
              <a:rPr lang="en-GB" sz="16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Prototype Performance report/Benchmarking</a:t>
            </a:r>
            <a:endParaRPr sz="16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5" title="Frame 13969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5"/>
          <p:cNvSpPr txBox="1"/>
          <p:nvPr/>
        </p:nvSpPr>
        <p:spPr>
          <a:xfrm>
            <a:off x="311700" y="826150"/>
            <a:ext cx="8520600" cy="40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616161"/>
              </a:buClr>
              <a:buSzPts val="1800"/>
              <a:buFont typeface="Proxima Nova"/>
              <a:buNone/>
            </a:pPr>
            <a:r>
              <a:rPr lang="en-GB" sz="16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Additional Details/Future Development (if any)</a:t>
            </a:r>
            <a:endParaRPr sz="16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6" title="Frame 13969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6"/>
          <p:cNvSpPr txBox="1"/>
          <p:nvPr/>
        </p:nvSpPr>
        <p:spPr>
          <a:xfrm>
            <a:off x="311700" y="826150"/>
            <a:ext cx="8520600" cy="40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616161"/>
              </a:buClr>
              <a:buSzPts val="1800"/>
              <a:buFont typeface="Proxima Nova"/>
              <a:buNone/>
            </a:pPr>
            <a:r>
              <a:rPr lang="en-GB" sz="16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GitHub &amp; Demo video URL</a:t>
            </a:r>
            <a:endParaRPr sz="16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7" title="Frame 13969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7"/>
          <p:cNvSpPr txBox="1"/>
          <p:nvPr/>
        </p:nvSpPr>
        <p:spPr>
          <a:xfrm>
            <a:off x="311700" y="826150"/>
            <a:ext cx="8520600" cy="40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616161"/>
              </a:buClr>
              <a:buSzPts val="1800"/>
              <a:buFont typeface="Proxima Nova"/>
              <a:buNone/>
            </a:pPr>
            <a:r>
              <a:rPr lang="en-GB" sz="16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Add as per the requirements for the hackathon:</a:t>
            </a:r>
            <a:endParaRPr i="0" sz="1600" u="none" cap="none" strike="noStrike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016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8" title="Frame 13968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